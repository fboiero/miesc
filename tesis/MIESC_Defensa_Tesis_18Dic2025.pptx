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MIESC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Multi-layer Intelligent Evaluation for 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AEAEA"/>
                </a:solidFill>
              </a:defRPr>
            </a:pPr>
            <a:r>
              <a:t>Un Enfoque de Ciberdefensa para la Seguridad de Contratos Inteligentes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Datos de la 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Autor: Ing. Fernando Boiero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Email: fboiero@frvm.utn.edu.ar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Programa: Maestria en Ciberdefensa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Institucion: Universidad de la Defensa Nacional (UNDEF)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Instituto Universitario Aeronautico (IUA) - Cordoba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Director: Mg. Eduardo Casanovas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Fecha de Defensa: 18 de Diciembre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1. Contexto y Motivacion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2. Problema de Investigacion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3. Marco Teorico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4. Solucion Propuesta: MIESC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5. Resultados Experimentales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6. Demo en Vivo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7. Conclusiones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8. Trabajo Post-Tesis (para contexto)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9. Trabajos Futuros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10. Preguntas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1. Contexto y Motivacion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El Ciberespacio como Dominio Estrategico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La Amenaza es Real: $7.8+ MIL MILLONES perdidos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Incidente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Perdida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Vulnerabilidad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The DAO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$60M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Reentrancy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Parity 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$280M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Access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$320M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Signature Bypass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Ronin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$625M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Key Compromise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Euler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$197M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Flash Loan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Taxonomia de Amenazas a Smart Contracts</a:t>
            </a:r>
          </a:p>
        </p:txBody>
      </p:sp>
      <p:pic>
        <p:nvPicPr>
          <p:cNvPr id="3" name="Picture 2" descr="fig_08_threat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22833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Clasificacion de vulnerabilidades por categoria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El Problema: Fragmentacion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Heterogeneidad de Enfoques: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Analisis estatico (Slither, Solhint)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Fuzzers (Echidna, Medusa)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Ejecucion simbolica (Mythril)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Verificacion formal (Certora)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IA (GPTScan)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Problemas Criticos: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Salidas incompatibles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Nomenclaturas diferentes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Cobertura incompleta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NINGUNA herramienta detecta &gt;70%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El Problema: Soberania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  <a:r>
              <a:t>Riesgo de Confidencialidad con IA comercial:</a:t>
            </a:r>
          </a:p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  <a:r>
              <a:t>• Propiedad intelectual: Codigo fuente enviado a terceros</a:t>
            </a:r>
          </a:p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  <a:r>
              <a:t>• Dependencia externa: Perdida de capacidad operativa</a:t>
            </a:r>
          </a:p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  <a:r>
              <a:t>• Cumplimiento normativo: GDPR, LGPD, regulaciones</a:t>
            </a:r>
          </a:p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  <a:r>
              <a:t>• Trazabilidad: Imposibilidad de auditar el procesamiento</a:t>
            </a:r>
          </a:p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6B6B"/>
                </a:solidFill>
              </a:defRPr>
            </a:pPr>
            <a:r>
              <a:t>En ciberdefensa, la confidencialidad del codigo es CRITICA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2. Planteamiento del Problema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Problemas Especificos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P1: No existe un framework que integre coherentemente las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 principales herramientas de analisis de seguridad.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P2: Las salidas de herramientas existentes utilizan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 nomenclaturas y formatos incompatibles.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P3: Las soluciones con IA dependen de servicios externos,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 comprometiendo la confidencialidad.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P4: No existe una arquitectura que aplique Defense-in-Depth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 a la seguridad de smart contracts.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Objetivo General: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Desarrollar un framework de codigo abierto que integre multiples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herramientas de analisis en una arquitectura de defensa en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profundidad, con IA soberana.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Objetivos Especificos: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1. Integrar 25 herramientas en 7 capas de defensa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2. Normalizar salidas a taxonomias estandar (SWC/CWE/OWASP)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3. Implementar backend de IA 100% local (Ollama)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4. Cumplir estandares Digital Public Good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5. Integrar con asistentes IA via MCP Protocol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3. Marco Teorico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Fundamentos Teoricos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Defense-in-Depth (Saltzer &amp; Schroeder, 1975):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"Multiples capas de defensa independientes, de modo que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la falla de una no comprometa la seguridad total"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Multi-Tool Analysis (Durieux et al., 2020):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"La combinacion de herramientas complementarias mejora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significativamente la deteccion de vulnerabilidades"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Taxonomias: SWC Registry (37), CWE (900+), OWASP SC Top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4. Solucion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MIESC v4.0.0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MIESC: Vision General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Herramientas Integradas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Capas de Defensa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Recall Vulnerabilidades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9D"/>
                </a:solidFill>
              </a:defRPr>
            </a:pPr>
            <a: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8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Mejora vs Individual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9D"/>
                </a:solidFill>
              </a:defRPr>
            </a:pPr>
            <a:r>
              <a:t>+40.8%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Costo Operativo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$0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56616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IA Soberana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Ollama Local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Arquitectura Defense-in-Depth de 7 Capas</a:t>
            </a:r>
          </a:p>
        </p:txBody>
      </p:sp>
      <p:pic>
        <p:nvPicPr>
          <p:cNvPr id="3" name="Picture 2" descr="fig_01_defense_in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6121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Arquitectura de defensa en profundidad de MIESC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Patron Adapter: Integracion Unificada</a:t>
            </a:r>
          </a:p>
        </p:txBody>
      </p:sp>
      <p:pic>
        <p:nvPicPr>
          <p:cNvPr id="3" name="Picture 2" descr="fig_02_adapter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34824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Diagrama de clases del patron Adapter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Capa 1: Analisis Estatico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Herramientas: Slither, Solhint, Securify2, Semgrep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Capacidades: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90+ detectores de vulnerabilidades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Analisis de flujo de datos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Deteccion de patrones inseguros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Verificacion de mejores practicas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Tiempo: ~5 segundos por contrato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Capa 2: Testing Dinamico (Fuzzing)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Herramientas: Echidna, Medusa, Foundry Fuzz, DogeFuzz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Capacidades: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Fuzzing basado en propiedades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Coverage-guided testing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Generacion automatica de inputs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Deteccion de invariantes violados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Mejora v4.0: DogeFuzz - AFL-style, 3x mas rapido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Capa 3: Ejecucion Simbolica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Herramientas: Mythril, Manticore, Halmos, Oyente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Capacidades: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Exploracion exhaustiva de paths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Deteccion de condiciones de overflow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Verificacion de assertions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Analisis de dependencias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Tiempo: 1-5 minutos (cuello de botella principal)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Capas 4-5: Verificacion Formal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Herramientas: SMTChecker, Certora, Scribble, Halmos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Capacidades: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Verificacion matematica de propiedades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Deteccion de violaciones de invariantes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Pruebas formales de correctitud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Mejora v4.0: PropertyGPT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80% recall en propiedades ground-truth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+700% adopcion de verificacion formal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Capas 6-7: Analisis con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Herramientas: SmartLLM, GPTScan, LLMSmartAudit, ThreatModel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Capacidades: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Correlacion de hallazgos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Analisis semantico profundo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Modelado de amenazas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Recomendaciones de remediacion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Mejora v4.0: RAG + Verificator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+17% precision (75% -&gt; 88%)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-52% falsos positivos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Arquitectura RAG en SmartLLM</a:t>
            </a:r>
          </a:p>
        </p:txBody>
      </p:sp>
      <p:pic>
        <p:nvPicPr>
          <p:cNvPr id="3" name="Picture 2" descr="fig_10_r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1134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Retrieval Augmented Generation para analisis de vulnerabilidades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Flujo de Normalizacion SWC/CWE/OWASP</a:t>
            </a:r>
          </a:p>
        </p:txBody>
      </p:sp>
      <p:pic>
        <p:nvPicPr>
          <p:cNvPr id="3" name="Picture 2" descr="fig_03_normaliz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8851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Proceso de normalizacion de hallazgos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Patron Adapter: Integracion Unificada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class ToolAdapter(ABC):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def analyze(self, contract_path: str) -&gt; ToolResult: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    pass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def is_available(self) -&gt; bool: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    pass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def get_metadata(self) -&gt; ToolMetadata: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    pass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# 25 adapters implementados siguiendo este patron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IA Soberana con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CODIGO NUNCA SALE DE TU MAQUINA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Problema con APIs comerciales: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OpenAI: codigo enviado a servidores USA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Costo: $0.03-$0.10 por analisis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Solucion MIESC: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Ollama local (deepseek-coder, codellama)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Procesamiento 100% on-premise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Costo: $0.00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Cumple DPGA Standard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Arquitectura de IA Soberana</a:t>
            </a:r>
          </a:p>
        </p:txBody>
      </p:sp>
      <p:pic>
        <p:nvPicPr>
          <p:cNvPr id="3" name="Picture 2" descr="fig_06_sovereign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165869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Codigo procesado localmente, sin envio a APIs externas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Integracion MCP (Model Context Protocol)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{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"miesc": {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  "url": "http://localhost:8080/mcp/jsonrpc"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}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}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}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Endpoints disponibles: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- run_audit: Ejecutar auditoria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- correlate_findings: Correlacionar hallazgos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- map_compliance: Mapear a estandares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- generate_report: Generar reportes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Arquitectura de Integracion MCP</a:t>
            </a:r>
          </a:p>
        </p:txBody>
      </p:sp>
      <p:pic>
        <p:nvPicPr>
          <p:cNvPr id="3" name="Picture 2" descr="fig_04_mc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23983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Model Context Protocol - Integracion con Claude Desktop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5. Resultados Experimentales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Metodologia de Evaluacion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Tipo de estudio: Evaluacion comparativa con benchmark controlado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Preguntas de investigacion: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RQ1: Integracion exitosa de 25 herramientas?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RQ2: Mejora deteccion vs herramientas individuales?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RQ3: Reduccion efectiva de duplicados?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RQ4: Viabilidad para produccion?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Corpus: 4 contratos, 14 vulnerabilidades conocidas, 7 categorias SWC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RQ1: Integracion de Herramientas - 100% (25/25)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Herramientas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1 - Estatico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Slither, Solhint, Securify2, Semgrep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4/4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2 - Fuzzing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Echidna, Medusa, Foundry, DogeFuzz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4/4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3 - Simbolico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Mythril, Manticore, Halmos, Oyente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4/4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4-5 -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SMTChecker, Certora, Scribble, PropertyGPT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4/4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6-7 -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SmartLLM, GPTScan, ThreatModel,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9/9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RQ2: Mejora de Deteccion - +40.8%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Herramienta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Slither (individual)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Mythril (individual)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Echidna (individual)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MIESC (7 capas)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94.5%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0.936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RQ3: Reduccion de Duplicados - 66%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Hallazgos Brutos (raw)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6B"/>
                </a:solidFill>
              </a:defRPr>
            </a:pPr>
            <a:r>
              <a:t>147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Hallazgos Unicos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9D"/>
                </a:solidFill>
              </a:defRPr>
            </a:pPr>
            <a: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Duplicados Eliminados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8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Reduccion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9D"/>
                </a:solidFill>
              </a:defRPr>
            </a:pPr>
            <a:r>
              <a:t>66%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Precision Normalizacion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97.1%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56616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Taxonomias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SWC/CWE/OWASP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RQ4: Viabilidad en Produccion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Tiempo por Contrato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~2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463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Costo por Auditoria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9D"/>
                </a:solidFill>
              </a:defRPr>
            </a:pPr>
            <a:r>
              <a:t>$0.00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Tests Unitarios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9D"/>
                </a:solidFill>
              </a:defRPr>
            </a:pPr>
            <a:r>
              <a:t>1,277 pasando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8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Cobertura Codigo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59.42%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Compliance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91.4%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566160"/>
            <a:ext cx="3657600" cy="914400"/>
          </a:xfrm>
          <a:prstGeom prst="roundRect">
            <a:avLst/>
          </a:prstGeom>
          <a:solidFill>
            <a:srgbClr val="0F0F2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657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AEAEA"/>
                </a:solidFill>
              </a:defRPr>
            </a:pPr>
            <a:r>
              <a:t>DPG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GID0092948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Comparativa de Rendimiento</a:t>
            </a:r>
          </a:p>
        </p:txBody>
      </p:sp>
      <p:pic>
        <p:nvPicPr>
          <p:cNvPr id="3" name="Picture 2" descr="fig_07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1224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MIESC vs herramientas individuales (Precision, Recall, F1)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Distribucion de Hallazgos por Severidad</a:t>
            </a:r>
          </a:p>
        </p:txBody>
      </p:sp>
      <p:pic>
        <p:nvPicPr>
          <p:cNvPr id="3" name="Picture 2" descr="fig_05_sever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3766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Clasificacion de vulnerabilidades por severidad y capa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Timeline de Ejecucion Paralela</a:t>
            </a:r>
          </a:p>
        </p:txBody>
      </p:sp>
      <p:pic>
        <p:nvPicPr>
          <p:cNvPr id="3" name="Picture 2" descr="fig_09_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2855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Figura: Ejecucion paralela de capas para optimizar tiempos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6. 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Ejecutando MIESC contra VulnerableBank.sol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Demo: Vulnerabilidad Detectada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function withdraw() public {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uint256 balance = balances[msg.sender];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require(balance &gt; 0, "No balance");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// VULNERABILIDAD: External call ANTES de state update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(bool success, ) = msg.sender.call{value: balance}("");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require(success, "Transfer failed");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// State update DESPUES - puede ser re-entered!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    balances[msg.sender] = 0;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}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  <a:r>
              <a:t>// SWC-107: Reentrancy | Severidad: CRITICAL</a:t>
            </a:r>
          </a:p>
          <a:p>
            <a:pPr>
              <a:defRPr sz="1400">
                <a:solidFill>
                  <a:srgbClr val="00FF9D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7. Conclusiones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Objetivos Alcanzados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Integrar herramientas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25 operativas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25/25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Defensa en profundidad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7 capas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7 implementadas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Normalizar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Mapeo SWC/CWE/OWASP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97.1%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Eliminar dep. comerciales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Costo 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$0/auditoria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Mejorar deteccion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&gt;20%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+40.8%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SUPERADO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Reducir duplicados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&gt;40%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SUPERADO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Contribuciones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1. Arquitectura de 7 Capas: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Primera implementacion de Defense-in-Depth para smart contracts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2. Protocolo ToolAdapter: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Interfaz unificada para herramientas heterogeneas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3. Normalizacion Triple: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Mapeo automatico SWC/CWE/OWASP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4. IA Soberana: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Eliminacion de dependencias de APIs comerciales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5. MCP Server: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 Primera herramienta de auditoria con Model Context Protocol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Limitaciones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Tecnicas: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Escalabilidad en contratos &gt;1000 LOC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Calidad depende del modelo LLM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Vulnerabilidades de logica de negocio (flash loans, MEV)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Metodologicas: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Corpus de prueba limitado (4 contratos)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Ausencia de validacion en mainnet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Metricas de IA subjetivas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Trabajo Posterior a la 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Desarrollado entre Octubre y Diciembre 2025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Trabajo Post-Tesis (v4.1.0 - v4.2.0)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IMPORTANTE: Lo siguiente NO forma parte de la tesis entregada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el 23 de Octubre 2025. Se presenta para contexto.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Nuevas Capas implementadas: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• Capa 8: Analisis de Seguridad DeFi (flash loans, oracles, MEV)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• Capa 9: Seguridad de Dependencias (CVE database, supply chain)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Trabajos Futuros implementados: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• TF-5.2: GitHub Action CI/CD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• TF-5.3: WebSocket Streaming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• TF-5.4: Dashboard Streamlit mejorado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Funcionalidades Post-Tesis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Descripcion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Multi-format Exporters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SARIF, SonarQube, Checkmarx, 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v4.2.0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Prometheus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Observabilidad con metricas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v4.2.0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WebSocket 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16 tipos de eventos en tiempo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v4.1.0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OpenAPI 3.1.0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33 endpoints, 61 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v4.1.0+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DPGA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Digital Public Good (GID0092948)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v4.2.0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Evolucion de Metricas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Metrica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Tesis v4.0.0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Actual v4.2.0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Herramientas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25+ (Capas 8-9)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Capas de 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Tests unitarios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~100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1,277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Lineas de codigo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~30K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~51K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OpenAPI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9. Trabajos Futuros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Lineas de investigacion propuestas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Lineas de Investigacion Futuras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Linea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Descripcion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D4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Multi-chain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Soporte para Solana, Cairo, Soroban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Fine-tuning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Modelos especializados en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Runtime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Deteccion en tiempo real post-deployment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Automated Patching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Generacion automatica de parches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IDE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Extension VSCode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AEAEA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Preguntas?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Referencias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Atzei, N., et al. (2017). "A Survey of Attacks on Ethereum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Smart Contracts"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Durieux, T., et al. (2020). "Empirical Review of Automated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Analysis Tools on 47,587 Contracts"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Saltzer, J. &amp; Schroeder, M. (1975). "The Protection of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  Information in Computer Systems"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Anthropic (2024). "Model Context Protocol Specification"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DPGA (2023). "Digital Public Goods Standard"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Contacto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Fernando Boiero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Email: fboiero@frvm.utn.edu.ar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GitHub: github.com/fboiero/MIESC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Documentacion: fboiero.github.io/MIESC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MIESC v4.0.0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Licencia: AGPL-3.0</a:t>
            </a:r>
          </a:p>
          <a:p>
            <a:pPr>
              <a:spcAft>
                <a:spcPts val="800"/>
              </a:spcAft>
              <a:defRPr sz="2000">
                <a:solidFill>
                  <a:srgbClr val="EAEAEA"/>
                </a:solidFill>
              </a:defRPr>
            </a:pPr>
            <a:r>
              <a:t>• DPG Application: GID0092948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MIESC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9D"/>
                </a:solidFill>
              </a:defRPr>
            </a:pPr>
            <a:r>
              <a:t>Securing the Future of 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AEAEA"/>
                </a:solidFill>
              </a:defRPr>
            </a:pPr>
            <a:r>
              <a:t>Defense-in-Depth for the Blockchain 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